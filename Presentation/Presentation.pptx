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615448"/>
            <a:ext cx="11157141" cy="1253675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unded Rectangle"/>
          <p:cNvSpPr/>
          <p:nvPr/>
        </p:nvSpPr>
        <p:spPr>
          <a:xfrm>
            <a:off x="2095370" y="9637281"/>
            <a:ext cx="7728576" cy="1914201"/>
          </a:xfrm>
          <a:prstGeom prst="roundRect">
            <a:avLst>
              <a:gd name="adj" fmla="val 9952"/>
            </a:avLst>
          </a:prstGeom>
          <a:solidFill>
            <a:srgbClr val="EBEB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2" name="Course Title : OPERATING SYSTEM…"/>
          <p:cNvSpPr txBox="1"/>
          <p:nvPr>
            <p:ph type="body" idx="21"/>
          </p:nvPr>
        </p:nvSpPr>
        <p:spPr>
          <a:xfrm>
            <a:off x="2247675" y="9896509"/>
            <a:ext cx="9554142" cy="39690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algn="l">
              <a:defRPr spc="-35" sz="3500"/>
            </a:pPr>
            <a:r>
              <a:t>Course Title 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OPERATING SYSTEM </a:t>
            </a:r>
            <a:endParaRPr b="1">
              <a:latin typeface="Graphik"/>
              <a:ea typeface="Graphik"/>
              <a:cs typeface="Graphik"/>
              <a:sym typeface="Graphik"/>
            </a:endParaRPr>
          </a:p>
          <a:p>
            <a:pPr algn="l">
              <a:defRPr spc="-35" sz="3500"/>
            </a:pPr>
            <a:r>
              <a:t>Course Code 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ICT 2201</a:t>
            </a:r>
            <a:r>
              <a:t> </a:t>
            </a:r>
          </a:p>
        </p:txBody>
      </p:sp>
      <p:sp>
        <p:nvSpPr>
          <p:cNvPr id="173" name="Rounded Rectangle"/>
          <p:cNvSpPr/>
          <p:nvPr/>
        </p:nvSpPr>
        <p:spPr>
          <a:xfrm>
            <a:off x="3177151" y="3276132"/>
            <a:ext cx="18029698" cy="3624713"/>
          </a:xfrm>
          <a:prstGeom prst="roundRect">
            <a:avLst>
              <a:gd name="adj" fmla="val 10017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74" name="History, Features, Architecture &amp; Impact"/>
          <p:cNvSpPr txBox="1"/>
          <p:nvPr>
            <p:ph type="subTitle" sz="quarter" idx="1"/>
          </p:nvPr>
        </p:nvSpPr>
        <p:spPr>
          <a:xfrm>
            <a:off x="1219200" y="5732703"/>
            <a:ext cx="21945600" cy="2250594"/>
          </a:xfrm>
          <a:prstGeom prst="rect">
            <a:avLst/>
          </a:prstGeom>
        </p:spPr>
        <p:txBody>
          <a:bodyPr/>
          <a:lstStyle>
            <a:lvl1pPr>
              <a:defRPr i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History, Features, Architecture &amp; Impact</a:t>
            </a:r>
          </a:p>
        </p:txBody>
      </p:sp>
      <p:sp>
        <p:nvSpPr>
          <p:cNvPr id="175" name="Android Operating System"/>
          <p:cNvSpPr txBox="1"/>
          <p:nvPr>
            <p:ph type="ctrTitle"/>
          </p:nvPr>
        </p:nvSpPr>
        <p:spPr>
          <a:xfrm>
            <a:off x="1219200" y="1394810"/>
            <a:ext cx="21945600" cy="4267201"/>
          </a:xfrm>
          <a:prstGeom prst="rect">
            <a:avLst/>
          </a:prstGeom>
        </p:spPr>
        <p:txBody>
          <a:bodyPr/>
          <a:lstStyle/>
          <a:p>
            <a:pPr/>
            <a:r>
              <a:t>Android Operating System</a:t>
            </a:r>
          </a:p>
        </p:txBody>
      </p:sp>
      <p:sp>
        <p:nvSpPr>
          <p:cNvPr id="176" name="Presentation on"/>
          <p:cNvSpPr txBox="1"/>
          <p:nvPr/>
        </p:nvSpPr>
        <p:spPr>
          <a:xfrm>
            <a:off x="8532045" y="2574716"/>
            <a:ext cx="7319909" cy="1060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5000"/>
            </a:lvl1pPr>
          </a:lstStyle>
          <a:p>
            <a:pPr/>
            <a:r>
              <a:t>Presentation on</a:t>
            </a:r>
          </a:p>
        </p:txBody>
      </p:sp>
      <p:grpSp>
        <p:nvGrpSpPr>
          <p:cNvPr id="179" name="Group"/>
          <p:cNvGrpSpPr/>
          <p:nvPr/>
        </p:nvGrpSpPr>
        <p:grpSpPr>
          <a:xfrm>
            <a:off x="10897479" y="8951089"/>
            <a:ext cx="5221681" cy="2578814"/>
            <a:chOff x="0" y="0"/>
            <a:chExt cx="5221679" cy="2578813"/>
          </a:xfrm>
        </p:grpSpPr>
        <p:sp>
          <p:nvSpPr>
            <p:cNvPr id="177" name="Presented by :"/>
            <p:cNvSpPr/>
            <p:nvPr/>
          </p:nvSpPr>
          <p:spPr>
            <a:xfrm>
              <a:off x="0" y="0"/>
              <a:ext cx="5221680" cy="60617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700">
                  <a:latin typeface="Canela Text Bold"/>
                  <a:ea typeface="Canela Text Bold"/>
                  <a:cs typeface="Canela Text Bold"/>
                  <a:sym typeface="Canela Text Bold"/>
                </a:defRPr>
              </a:lvl1pPr>
            </a:lstStyle>
            <a:p>
              <a:pPr/>
              <a:r>
                <a:t>Presented by : </a:t>
              </a:r>
            </a:p>
          </p:txBody>
        </p:sp>
        <p:sp>
          <p:nvSpPr>
            <p:cNvPr id="178" name="MD. Afif Zaman…"/>
            <p:cNvSpPr/>
            <p:nvPr/>
          </p:nvSpPr>
          <p:spPr>
            <a:xfrm>
              <a:off x="0" y="707770"/>
              <a:ext cx="5221680" cy="1871044"/>
            </a:xfrm>
            <a:prstGeom prst="roundRect">
              <a:avLst>
                <a:gd name="adj" fmla="val 22704"/>
              </a:avLst>
            </a:prstGeom>
            <a:solidFill>
              <a:srgbClr val="EBEBEB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latin typeface="Graphik"/>
                  <a:ea typeface="Graphik"/>
                  <a:cs typeface="Graphik"/>
                  <a:sym typeface="Graphik"/>
                </a:defRPr>
              </a:pPr>
              <a:r>
                <a:rPr b="1"/>
                <a:t>MD. Afif Zaman</a:t>
              </a:r>
              <a:r>
                <a:t> </a:t>
              </a:r>
            </a:p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sz="32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ID: </a:t>
              </a:r>
              <a:r>
                <a:rPr b="1"/>
                <a:t>IT-23059</a:t>
              </a:r>
            </a:p>
          </p:txBody>
        </p:sp>
      </p:grpSp>
      <p:grpSp>
        <p:nvGrpSpPr>
          <p:cNvPr id="182" name="Group"/>
          <p:cNvGrpSpPr/>
          <p:nvPr/>
        </p:nvGrpSpPr>
        <p:grpSpPr>
          <a:xfrm>
            <a:off x="17032392" y="8953160"/>
            <a:ext cx="5221681" cy="2574672"/>
            <a:chOff x="0" y="0"/>
            <a:chExt cx="5221679" cy="2574670"/>
          </a:xfrm>
        </p:grpSpPr>
        <p:sp>
          <p:nvSpPr>
            <p:cNvPr id="180" name="Presented to :"/>
            <p:cNvSpPr/>
            <p:nvPr/>
          </p:nvSpPr>
          <p:spPr>
            <a:xfrm>
              <a:off x="0" y="0"/>
              <a:ext cx="5221680" cy="606171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2700">
                  <a:latin typeface="Canela Text Bold"/>
                  <a:ea typeface="Canela Text Bold"/>
                  <a:cs typeface="Canela Text Bold"/>
                  <a:sym typeface="Canela Text Bold"/>
                </a:defRPr>
              </a:lvl1pPr>
            </a:lstStyle>
            <a:p>
              <a:pPr/>
              <a:r>
                <a:t>Presented to : </a:t>
              </a:r>
            </a:p>
          </p:txBody>
        </p:sp>
        <p:sp>
          <p:nvSpPr>
            <p:cNvPr id="181" name="Dr. Nazrul Islam…"/>
            <p:cNvSpPr/>
            <p:nvPr/>
          </p:nvSpPr>
          <p:spPr>
            <a:xfrm>
              <a:off x="0" y="707770"/>
              <a:ext cx="5221680" cy="1866901"/>
            </a:xfrm>
            <a:prstGeom prst="roundRect">
              <a:avLst>
                <a:gd name="adj" fmla="val 22754"/>
              </a:avLst>
            </a:prstGeom>
            <a:solidFill>
              <a:srgbClr val="EBEBEB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b="1" sz="32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Dr. Nazrul Islam </a:t>
              </a:r>
            </a:p>
            <a:p>
              <a:pPr algn="ctr" defTabSz="1130300">
                <a:lnSpc>
                  <a:spcPct val="100000"/>
                </a:lnSpc>
                <a:spcBef>
                  <a:spcPts val="0"/>
                </a:spcBef>
                <a:defRPr b="1" sz="3200">
                  <a:latin typeface="Graphik"/>
                  <a:ea typeface="Graphik"/>
                  <a:cs typeface="Graphik"/>
                  <a:sym typeface="Graphik"/>
                </a:defRPr>
              </a:pPr>
              <a:r>
                <a:t>Associate Professor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What is Android?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What is Android?</a:t>
            </a:r>
          </a:p>
        </p:txBody>
      </p:sp>
      <p:sp>
        <p:nvSpPr>
          <p:cNvPr id="185" name="Open-source mobile operating system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Open-source mobile operating system </a:t>
            </a:r>
          </a:p>
          <a:p>
            <a:pPr/>
            <a:r>
              <a:t>Developed by Google </a:t>
            </a:r>
          </a:p>
          <a:p>
            <a:pPr/>
            <a:r>
              <a:t>Based on Linux kernel</a:t>
            </a:r>
          </a:p>
          <a:p>
            <a:pPr/>
            <a:r>
              <a:t>Used in smartphones, TVs, wearables</a:t>
            </a:r>
          </a:p>
        </p:txBody>
      </p:sp>
      <p:sp>
        <p:nvSpPr>
          <p:cNvPr id="186" name="Slide Number"/>
          <p:cNvSpPr txBox="1"/>
          <p:nvPr>
            <p:ph type="sldNum" sz="quarter" idx="4294967295"/>
          </p:nvPr>
        </p:nvSpPr>
        <p:spPr>
          <a:xfrm>
            <a:off x="12053252" y="12599035"/>
            <a:ext cx="290196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  <p:pic>
        <p:nvPicPr>
          <p:cNvPr id="187" name="IMG_1174.jpeg" descr="IMG_1174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0642" t="0" r="10642" b="0"/>
          <a:stretch>
            <a:fillRect/>
          </a:stretch>
        </p:blipFill>
        <p:spPr>
          <a:xfrm>
            <a:off x="13134176" y="2231429"/>
            <a:ext cx="9042843" cy="9253141"/>
          </a:xfrm>
          <a:prstGeom prst="rect">
            <a:avLst/>
          </a:prstGeom>
        </p:spPr>
      </p:pic>
      <p:sp>
        <p:nvSpPr>
          <p:cNvPr id="188" name="Android logo"/>
          <p:cNvSpPr/>
          <p:nvPr/>
        </p:nvSpPr>
        <p:spPr>
          <a:xfrm>
            <a:off x="13134176" y="1523658"/>
            <a:ext cx="9042843" cy="606172"/>
          </a:xfrm>
          <a:prstGeom prst="roundRect">
            <a:avLst>
              <a:gd name="adj" fmla="val 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700"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pPr/>
            <a:r>
              <a:t>Android logo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History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History</a:t>
            </a:r>
          </a:p>
        </p:txBody>
      </p:sp>
      <p:sp>
        <p:nvSpPr>
          <p:cNvPr id="191" name="Android Inc. founded in 2003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Android Inc. founded in 2003 </a:t>
            </a:r>
          </a:p>
          <a:p>
            <a:pPr/>
            <a:r>
              <a:t>Acquired by Google in 2005 </a:t>
            </a:r>
          </a:p>
          <a:p>
            <a:pPr/>
            <a:r>
              <a:t>First Android phone in 2008 </a:t>
            </a:r>
          </a:p>
          <a:p>
            <a:pPr/>
            <a:r>
              <a:t>Rapid global growth </a:t>
            </a:r>
          </a:p>
        </p:txBody>
      </p:sp>
      <p:sp>
        <p:nvSpPr>
          <p:cNvPr id="192" name="Slide Number"/>
          <p:cNvSpPr txBox="1"/>
          <p:nvPr>
            <p:ph type="sldNum" sz="quarter" idx="4294967295"/>
          </p:nvPr>
        </p:nvSpPr>
        <p:spPr>
          <a:xfrm>
            <a:off x="12045314" y="12599035"/>
            <a:ext cx="306071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  <p:pic>
        <p:nvPicPr>
          <p:cNvPr id="193" name="IMG_1175.jpeg" descr="IMG_1175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9524" t="0" r="9524" b="0"/>
          <a:stretch>
            <a:fillRect/>
          </a:stretch>
        </p:blipFill>
        <p:spPr>
          <a:xfrm>
            <a:off x="13134176" y="2231429"/>
            <a:ext cx="9042843" cy="9253141"/>
          </a:xfrm>
          <a:prstGeom prst="rect">
            <a:avLst/>
          </a:prstGeom>
        </p:spPr>
      </p:pic>
      <p:sp>
        <p:nvSpPr>
          <p:cNvPr id="194" name="HTC Dream phone"/>
          <p:cNvSpPr/>
          <p:nvPr/>
        </p:nvSpPr>
        <p:spPr>
          <a:xfrm>
            <a:off x="13134176" y="1523658"/>
            <a:ext cx="9042843" cy="606172"/>
          </a:xfrm>
          <a:prstGeom prst="roundRect">
            <a:avLst>
              <a:gd name="adj" fmla="val 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700"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pPr/>
            <a:r>
              <a:t>HTC Dream phone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Key Features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Key Features </a:t>
            </a:r>
          </a:p>
        </p:txBody>
      </p:sp>
      <p:sp>
        <p:nvSpPr>
          <p:cNvPr id="197" name="Open-source &amp; customisable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Open-source &amp; customisable</a:t>
            </a:r>
          </a:p>
          <a:p>
            <a:pPr/>
            <a:r>
              <a:t>Multitasking </a:t>
            </a:r>
          </a:p>
          <a:p>
            <a:pPr/>
            <a:r>
              <a:t>Large app ecosystem </a:t>
            </a:r>
          </a:p>
          <a:p>
            <a:pPr/>
            <a:r>
              <a:t>Google services integration </a:t>
            </a:r>
          </a:p>
        </p:txBody>
      </p:sp>
      <p:sp>
        <p:nvSpPr>
          <p:cNvPr id="198" name="Slide Number"/>
          <p:cNvSpPr txBox="1"/>
          <p:nvPr>
            <p:ph type="sldNum" sz="quarter" idx="4294967295"/>
          </p:nvPr>
        </p:nvSpPr>
        <p:spPr>
          <a:xfrm>
            <a:off x="12043251" y="12599035"/>
            <a:ext cx="310198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rchitecture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Architecture </a:t>
            </a:r>
          </a:p>
        </p:txBody>
      </p:sp>
      <p:sp>
        <p:nvSpPr>
          <p:cNvPr id="201" name="Applications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Applications</a:t>
            </a:r>
          </a:p>
          <a:p>
            <a:pPr/>
            <a:r>
              <a:t>Application Framework </a:t>
            </a:r>
          </a:p>
          <a:p>
            <a:pPr/>
            <a:r>
              <a:t>Android Runtime (ART)</a:t>
            </a:r>
          </a:p>
          <a:p>
            <a:pPr/>
            <a:r>
              <a:t>Linux kernel </a:t>
            </a:r>
          </a:p>
        </p:txBody>
      </p:sp>
      <p:sp>
        <p:nvSpPr>
          <p:cNvPr id="202" name="Slide Number"/>
          <p:cNvSpPr txBox="1"/>
          <p:nvPr>
            <p:ph type="sldNum" sz="quarter" idx="4294967295"/>
          </p:nvPr>
        </p:nvSpPr>
        <p:spPr>
          <a:xfrm>
            <a:off x="12048013" y="12599035"/>
            <a:ext cx="300674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  <p:pic>
        <p:nvPicPr>
          <p:cNvPr id="203" name="IMG_1176.png" descr="IMG_1176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5255" r="0" b="15255"/>
          <a:stretch>
            <a:fillRect/>
          </a:stretch>
        </p:blipFill>
        <p:spPr>
          <a:xfrm>
            <a:off x="13134176" y="2231429"/>
            <a:ext cx="9042843" cy="9253141"/>
          </a:xfrm>
          <a:prstGeom prst="rect">
            <a:avLst/>
          </a:prstGeom>
        </p:spPr>
      </p:pic>
      <p:sp>
        <p:nvSpPr>
          <p:cNvPr id="204" name="Android architecture diagram"/>
          <p:cNvSpPr/>
          <p:nvPr/>
        </p:nvSpPr>
        <p:spPr>
          <a:xfrm>
            <a:off x="13134176" y="1523658"/>
            <a:ext cx="9042843" cy="606172"/>
          </a:xfrm>
          <a:prstGeom prst="roundRect">
            <a:avLst>
              <a:gd name="adj" fmla="val 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700"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pPr/>
            <a:r>
              <a:t>Android architecture diagram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pp components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App components</a:t>
            </a:r>
          </a:p>
        </p:txBody>
      </p:sp>
      <p:sp>
        <p:nvSpPr>
          <p:cNvPr id="207" name="Activities → UI screens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Activities → UI screens</a:t>
            </a:r>
          </a:p>
          <a:p>
            <a:pPr/>
            <a:r>
              <a:t>Services → Background tasks</a:t>
            </a:r>
          </a:p>
          <a:p>
            <a:pPr/>
            <a:r>
              <a:t>Broadcast Receivers → System events </a:t>
            </a:r>
          </a:p>
          <a:p>
            <a:pPr/>
            <a:r>
              <a:t>Content Providers → Data sharing </a:t>
            </a:r>
          </a:p>
        </p:txBody>
      </p:sp>
      <p:sp>
        <p:nvSpPr>
          <p:cNvPr id="208" name="Slide Number"/>
          <p:cNvSpPr txBox="1"/>
          <p:nvPr>
            <p:ph type="sldNum" sz="quarter" idx="4294967295"/>
          </p:nvPr>
        </p:nvSpPr>
        <p:spPr>
          <a:xfrm>
            <a:off x="12042933" y="12599035"/>
            <a:ext cx="310834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Development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Development </a:t>
            </a:r>
          </a:p>
        </p:txBody>
      </p:sp>
      <p:sp>
        <p:nvSpPr>
          <p:cNvPr id="211" name="Android Studio (IDE)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Android Studio (IDE)</a:t>
            </a:r>
          </a:p>
          <a:p>
            <a:pPr/>
            <a:r>
              <a:t>Languages: Java, Kotlin</a:t>
            </a:r>
          </a:p>
          <a:p>
            <a:pPr/>
            <a:r>
              <a:t>Google Play Store for apps</a:t>
            </a:r>
          </a:p>
        </p:txBody>
      </p:sp>
      <p:sp>
        <p:nvSpPr>
          <p:cNvPr id="212" name="Slide Number"/>
          <p:cNvSpPr txBox="1"/>
          <p:nvPr>
            <p:ph type="sldNum" sz="quarter" idx="4294967295"/>
          </p:nvPr>
        </p:nvSpPr>
        <p:spPr>
          <a:xfrm>
            <a:off x="12057856" y="12599035"/>
            <a:ext cx="280988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  <p:pic>
        <p:nvPicPr>
          <p:cNvPr id="213" name="IMG_1177.png" descr="IMG_1177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9651" t="0" r="19651" b="0"/>
          <a:stretch>
            <a:fillRect/>
          </a:stretch>
        </p:blipFill>
        <p:spPr>
          <a:xfrm>
            <a:off x="13134176" y="2231429"/>
            <a:ext cx="9042843" cy="9253141"/>
          </a:xfrm>
          <a:prstGeom prst="rect">
            <a:avLst/>
          </a:prstGeom>
        </p:spPr>
      </p:pic>
      <p:sp>
        <p:nvSpPr>
          <p:cNvPr id="214" name="Android Studio"/>
          <p:cNvSpPr/>
          <p:nvPr/>
        </p:nvSpPr>
        <p:spPr>
          <a:xfrm>
            <a:off x="13134176" y="1523658"/>
            <a:ext cx="9042843" cy="606172"/>
          </a:xfrm>
          <a:prstGeom prst="roundRect">
            <a:avLst>
              <a:gd name="adj" fmla="val 0"/>
            </a:avLst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700"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pPr/>
            <a:r>
              <a:t>Android Studio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nclusion"/>
          <p:cNvSpPr txBox="1"/>
          <p:nvPr>
            <p:ph type="title"/>
          </p:nvPr>
        </p:nvSpPr>
        <p:spPr>
          <a:xfrm>
            <a:off x="1217215" y="1533728"/>
            <a:ext cx="9753601" cy="1600201"/>
          </a:xfrm>
          <a:prstGeom prst="rect">
            <a:avLst/>
          </a:prstGeom>
        </p:spPr>
        <p:txBody>
          <a:bodyPr/>
          <a:lstStyle>
            <a:lvl1pPr defTabSz="2267711">
              <a:defRPr spc="-78" sz="7812"/>
            </a:lvl1pPr>
          </a:lstStyle>
          <a:p>
            <a:pPr/>
            <a:r>
              <a:t>Conclusion </a:t>
            </a:r>
          </a:p>
        </p:txBody>
      </p:sp>
      <p:sp>
        <p:nvSpPr>
          <p:cNvPr id="217" name="Leading mobile OS…"/>
          <p:cNvSpPr txBox="1"/>
          <p:nvPr>
            <p:ph type="body" sz="half" idx="1"/>
          </p:nvPr>
        </p:nvSpPr>
        <p:spPr>
          <a:xfrm>
            <a:off x="1215231" y="4000847"/>
            <a:ext cx="9757569" cy="8384680"/>
          </a:xfrm>
          <a:prstGeom prst="rect">
            <a:avLst/>
          </a:prstGeom>
        </p:spPr>
        <p:txBody>
          <a:bodyPr/>
          <a:lstStyle/>
          <a:p>
            <a:pPr/>
            <a:r>
              <a:t>Leading mobile OS </a:t>
            </a:r>
          </a:p>
          <a:p>
            <a:pPr/>
            <a:r>
              <a:t>Flexible and powerful </a:t>
            </a:r>
          </a:p>
          <a:p>
            <a:pPr/>
            <a:r>
              <a:t>Widely used worldwide </a:t>
            </a:r>
          </a:p>
          <a:p>
            <a:pPr/>
            <a:r>
              <a:t>Continuously evolving </a:t>
            </a:r>
          </a:p>
        </p:txBody>
      </p:sp>
      <p:sp>
        <p:nvSpPr>
          <p:cNvPr id="218" name="Slide Number"/>
          <p:cNvSpPr txBox="1"/>
          <p:nvPr>
            <p:ph type="sldNum" sz="quarter" idx="4294967295"/>
          </p:nvPr>
        </p:nvSpPr>
        <p:spPr>
          <a:xfrm>
            <a:off x="12044838" y="12599035"/>
            <a:ext cx="307024" cy="5302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5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HANK YOU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